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317" r:id="rId5"/>
    <p:sldId id="318" r:id="rId6"/>
    <p:sldId id="319" r:id="rId7"/>
    <p:sldId id="320" r:id="rId8"/>
    <p:sldId id="321" r:id="rId9"/>
    <p:sldId id="30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94" autoAdjust="0"/>
    <p:restoredTop sz="95405" autoAdjust="0"/>
  </p:normalViewPr>
  <p:slideViewPr>
    <p:cSldViewPr snapToGrid="0">
      <p:cViewPr>
        <p:scale>
          <a:sx n="100" d="100"/>
          <a:sy n="100" d="100"/>
        </p:scale>
        <p:origin x="-240" y="-533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11/30/25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11/30/25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0497" y="2373014"/>
            <a:ext cx="10174571" cy="1477328"/>
          </a:xfrm>
        </p:spPr>
        <p:txBody>
          <a:bodyPr anchor="ctr"/>
          <a:lstStyle/>
          <a:p>
            <a:r>
              <a:rPr lang="en-US" sz="2600" b="1" kern="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Detection of Potentially Dangerous Objects for a Child in a Room</a:t>
            </a:r>
            <a:br>
              <a:rPr lang="en-IL" sz="26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9370BF-557B-4248-0B82-EFF5B7E3F572}"/>
              </a:ext>
            </a:extLst>
          </p:cNvPr>
          <p:cNvSpPr txBox="1"/>
          <p:nvPr/>
        </p:nvSpPr>
        <p:spPr>
          <a:xfrm>
            <a:off x="5184115" y="2568669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13DE74-944A-F107-5226-62D1650ED4BE}"/>
              </a:ext>
            </a:extLst>
          </p:cNvPr>
          <p:cNvSpPr txBox="1"/>
          <p:nvPr/>
        </p:nvSpPr>
        <p:spPr>
          <a:xfrm>
            <a:off x="8575643" y="5493961"/>
            <a:ext cx="40489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he-IL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גונקו דניאל 340969674</a:t>
            </a:r>
            <a:endParaRPr lang="en-IL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rtl="1"/>
            <a:r>
              <a:rPr lang="he-IL" sz="1800" b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גבריס</a:t>
            </a:r>
            <a:r>
              <a:rPr lang="he-IL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סבטלנה 342794732 </a:t>
            </a:r>
            <a:endParaRPr lang="en-IL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rtl="1"/>
            <a:r>
              <a:rPr lang="he-IL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סמיון אוסטרובסקי 342795754</a:t>
            </a:r>
            <a:endParaRPr lang="en-IL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rtl="1"/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IL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l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9C796-BF34-ED86-81FF-D31F45F31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91" y="274874"/>
            <a:ext cx="8239659" cy="1034610"/>
          </a:xfrm>
        </p:spPr>
        <p:txBody>
          <a:bodyPr/>
          <a:lstStyle/>
          <a:p>
            <a:r>
              <a:rPr lang="en-US" b="0" i="0" dirty="0">
                <a:effectLst/>
                <a:latin typeface="UICTFontTextStyleBody"/>
              </a:rPr>
              <a:t>Motivation &amp; use case</a:t>
            </a:r>
            <a:br>
              <a:rPr lang="en-US" dirty="0">
                <a:effectLst/>
                <a:latin typeface=".AppleSystemUIFont"/>
              </a:rPr>
            </a:b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82CD1-CD46-224D-DBFD-5CB83CE2B60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246933"/>
            <a:ext cx="9937184" cy="4818888"/>
          </a:xfrm>
        </p:spPr>
        <p:txBody>
          <a:bodyPr>
            <a:normAutofit/>
          </a:bodyPr>
          <a:lstStyle/>
          <a:p>
            <a:pPr marL="0" indent="0" rtl="1">
              <a:buNone/>
            </a:pPr>
            <a:r>
              <a:rPr lang="he-IL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הורים ומטפלות לילדים קטנים מתקשים לזהות בזמן חפצים מסוכנים שנמצאים בחדר הילדים. גם בסביבה שנראית בטוחה, עשויים להימצא פריטים קטנים או חדים, בקבוקי חומרים כימיים או כבלים פגומים — שלעתים מוסתרים חלקית מאחורי צעצועים או מונחים על הרצפה. חפצים כאלה עלולים להוביל למצבי חנק, פציעות או חשיפה לחומרים מסוכנים.</a:t>
            </a:r>
            <a:endParaRPr lang="en-IL" sz="18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rtl="1">
              <a:buNone/>
            </a:pPr>
            <a:r>
              <a:rPr lang="he-IL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מערכת ראייה ממוחשבת </a:t>
            </a:r>
            <a:r>
              <a:rPr lang="he-IL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שמטרתה</a:t>
            </a:r>
            <a:r>
              <a:rPr lang="he-IL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לאתר באופן אוטומטי חפצים מסוכנים בסביבת הילד יכולה לספק התרעה מוקדמת, למנוע תאונות ולהעלות את רמת הבטיחות בבית.</a:t>
            </a:r>
            <a:endParaRPr lang="en-IL" sz="18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rtl="1">
              <a:buNone/>
            </a:pPr>
            <a:r>
              <a:rPr lang="he-IL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המערכת רלוונטית עבור הורים, עבור גני ילדים, ועבור חברות בתחום הבית החכם המעוניינות לשלב יכולות בטיחות מתקדמות במצלמות או ברובוטים ביתיים.</a:t>
            </a:r>
            <a:endParaRPr lang="en-IL" sz="18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rtl="1">
              <a:buNone/>
            </a:pPr>
            <a:r>
              <a:rPr lang="he-IL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איסוף תמונות אמת מסיטואציות כאלו כמעט בלתי אפשרי:</a:t>
            </a:r>
            <a:endParaRPr lang="en-IL" sz="18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rtl="1"/>
            <a:r>
              <a:rPr lang="he-IL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קיימות מגבלות פרטיות, אסור לחשוף ילדים למצבים מסוכנים לצורכי צילום, ורוב המקרים הם נדירים ולכן קשה לתעד אותם.</a:t>
            </a:r>
            <a:endParaRPr lang="he-IL" sz="1800" kern="1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rtl="1">
              <a:buNone/>
            </a:pPr>
            <a:r>
              <a:rPr lang="he-IL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מסיבה זו נדרש שימוש בנתונים סינתטיים המבוססים על מודלים גנרטיביים (</a:t>
            </a:r>
            <a:r>
              <a:rPr lang="en-IL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GenAI</a:t>
            </a:r>
            <a:r>
              <a:rPr lang="he-IL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), </a:t>
            </a:r>
            <a:r>
              <a:rPr lang="he-IL" sz="1800" kern="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המאפשרים</a:t>
            </a:r>
            <a:r>
              <a:rPr lang="he-IL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יצירת כמויות גדולות של סצנות בטוחות, מגוונות ומבוססות סימולציה.</a:t>
            </a:r>
            <a:endParaRPr lang="en-IL" sz="18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522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D9DFB-313D-CCBF-A407-0244F6F3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84" y="72498"/>
            <a:ext cx="7534656" cy="914400"/>
          </a:xfrm>
        </p:spPr>
        <p:txBody>
          <a:bodyPr/>
          <a:lstStyle/>
          <a:p>
            <a:r>
              <a:rPr lang="en-US" dirty="0"/>
              <a:t>ML task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BACEC-6A0D-BA5E-F211-BB9D3808CCD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62915" y="1323853"/>
            <a:ext cx="10226392" cy="4210294"/>
          </a:xfrm>
        </p:spPr>
        <p:txBody>
          <a:bodyPr>
            <a:normAutofit fontScale="25000" lnSpcReduction="20000"/>
          </a:bodyPr>
          <a:lstStyle/>
          <a:p>
            <a:pPr marL="0" indent="0" rtl="1">
              <a:buNone/>
            </a:pPr>
            <a:r>
              <a:rPr lang="he-IL" sz="60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סוג</a:t>
            </a:r>
            <a:r>
              <a:rPr lang="he-IL" sz="60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e-IL" sz="6000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המשימה</a:t>
            </a:r>
            <a:r>
              <a:rPr lang="he-IL" sz="6000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L" sz="6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Object Detection</a:t>
            </a:r>
            <a:endParaRPr lang="en-IL" sz="60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rtl="1">
              <a:buNone/>
            </a:pPr>
            <a:endParaRPr lang="en-US" sz="6000" kern="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rtl="1">
              <a:buNone/>
            </a:pPr>
            <a:r>
              <a:rPr lang="he-IL" sz="6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קלט</a:t>
            </a:r>
            <a:r>
              <a:rPr lang="he-IL" sz="6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תמונת של חדר ילדים.</a:t>
            </a:r>
            <a:endParaRPr lang="en-IL" sz="60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rtl="1">
              <a:buNone/>
            </a:pPr>
            <a:r>
              <a:rPr lang="he-IL" sz="60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פלט</a:t>
            </a:r>
            <a:r>
              <a:rPr lang="he-IL" sz="6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r>
              <a:rPr lang="en-US" sz="6000" kern="1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he-IL" sz="6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מסגרות זיהוי (</a:t>
            </a:r>
            <a:r>
              <a:rPr lang="en-IL" sz="6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Bounding Boxes</a:t>
            </a:r>
            <a:r>
              <a:rPr lang="he-IL" sz="6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</a:t>
            </a:r>
            <a:endParaRPr lang="en-IL" sz="60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rtl="1">
              <a:buNone/>
            </a:pPr>
            <a:r>
              <a:rPr lang="he-IL" sz="6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תווית קטגוריה מתוך 4 קטגוריות סכנה</a:t>
            </a:r>
            <a:endParaRPr lang="en-IL" sz="60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rtl="1">
              <a:buNone/>
            </a:pPr>
            <a:r>
              <a:rPr lang="he-IL" sz="6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אפשרות לדירוג רמת סכנה (נמוך/בינוני/גבוה)</a:t>
            </a:r>
            <a:endParaRPr lang="en-IL" sz="60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ar-SA" sz="6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L" sz="60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rtl="1">
              <a:buNone/>
            </a:pPr>
            <a:r>
              <a:rPr lang="he-IL" sz="6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קטגוריות הסכנה (מוגדרות מראש):</a:t>
            </a:r>
            <a:endParaRPr lang="en-IL" sz="60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rtl="1">
              <a:buNone/>
            </a:pPr>
            <a:r>
              <a:rPr lang="he-IL" sz="6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חפצים קטנים שעלולים לגרום לחנק (בטריות, חלקי צעצוע זעירים, ברגים, מטבעות)</a:t>
            </a:r>
            <a:endParaRPr lang="en-IL" sz="60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rtl="1">
              <a:buNone/>
            </a:pPr>
            <a:r>
              <a:rPr lang="he-IL" sz="6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חפצים חדים (מספריים, סכין יפני קטן)</a:t>
            </a:r>
            <a:endParaRPr lang="en-IL" sz="60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rtl="1">
              <a:buNone/>
            </a:pPr>
            <a:r>
              <a:rPr lang="he-IL" sz="6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בקבוקי חומרי ניקוי או חומרים כימיים</a:t>
            </a:r>
            <a:endParaRPr lang="en-IL" sz="60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rtl="1">
              <a:buNone/>
            </a:pPr>
            <a:r>
              <a:rPr lang="he-IL" sz="6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סכנות חשמל (כבל חשוף, מתאם קרוע, שקע פגום — בהדמיה בלבד)</a:t>
            </a:r>
            <a:endParaRPr lang="en-IL" sz="60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ar-SA" sz="60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en-IL" sz="60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B3A80B-2F58-37C8-7A40-D4765592D445}"/>
              </a:ext>
            </a:extLst>
          </p:cNvPr>
          <p:cNvSpPr txBox="1"/>
          <p:nvPr/>
        </p:nvSpPr>
        <p:spPr>
          <a:xfrm>
            <a:off x="2866931" y="5018601"/>
            <a:ext cx="71170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rtl="1">
              <a:buNone/>
            </a:pPr>
            <a:r>
              <a:rPr lang="he-IL" sz="18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דוגמאות קלט–פלט</a:t>
            </a:r>
            <a:r>
              <a:rPr lang="he-IL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endParaRPr lang="en-IL" sz="18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rtl="1">
              <a:buNone/>
            </a:pPr>
            <a:r>
              <a:rPr lang="he-IL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תמונה עם בטריה על השטיח → תיבת זיהוי + “חפץ קטן מסוכן”</a:t>
            </a:r>
            <a:endParaRPr lang="en-IL" sz="18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rtl="1">
              <a:buNone/>
            </a:pPr>
            <a:r>
              <a:rPr lang="he-IL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תמונה של מספריים בקצה שולחן → תיבת זיהוי + “חפץ חד”</a:t>
            </a:r>
            <a:endParaRPr lang="en-IL" sz="18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lvl="0" indent="0" rtl="1">
              <a:buNone/>
            </a:pPr>
            <a:r>
              <a:rPr lang="he-IL" sz="1800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תמונה של בקבוק חומר ניקוי ליד צעצועים → תיבת זיהוי + “חומר כימי מסוכן”</a:t>
            </a:r>
            <a:endParaRPr lang="en-IL" sz="1800" kern="1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l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33692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36B91-7039-2EDF-3625-72968A7AE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290" y="272610"/>
            <a:ext cx="7534656" cy="914400"/>
          </a:xfrm>
        </p:spPr>
        <p:txBody>
          <a:bodyPr/>
          <a:lstStyle/>
          <a:p>
            <a:r>
              <a:rPr lang="en-IL" b="1" kern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Synthetic Data Plan</a:t>
            </a:r>
            <a:r>
              <a:rPr lang="en-IL" sz="1050" dirty="0">
                <a:effectLst/>
              </a:rPr>
              <a:t> </a:t>
            </a:r>
            <a:endParaRPr lang="en-IL" sz="10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0BB8E-0AC3-5CFA-FBD2-0498B80960C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17966" y="1486652"/>
            <a:ext cx="8403124" cy="4184338"/>
          </a:xfrm>
        </p:spPr>
        <p:txBody>
          <a:bodyPr>
            <a:normAutofit fontScale="25000" lnSpcReduction="20000"/>
          </a:bodyPr>
          <a:lstStyle/>
          <a:p>
            <a:pPr marL="0" indent="0" rtl="1">
              <a:buNone/>
            </a:pPr>
            <a:r>
              <a:rPr lang="he-IL" sz="4800" b="1" dirty="0">
                <a:latin typeface="Arial" panose="020B0604020202020204" pitchFamily="34" charset="0"/>
                <a:cs typeface="Arial" panose="020B0604020202020204" pitchFamily="34" charset="0"/>
              </a:rPr>
              <a:t>למה אי אפשר או לא רוצים להסתמך רק על דאטה אמיתית</a:t>
            </a:r>
          </a:p>
          <a:p>
            <a:pPr marL="0" indent="0" rtl="1">
              <a:buNone/>
            </a:pPr>
            <a:r>
              <a:rPr lang="he-IL" sz="4800" dirty="0">
                <a:latin typeface="Abel" panose="02000506030000020004" pitchFamily="2" charset="0"/>
                <a:cs typeface="Arial" panose="020B0604020202020204" pitchFamily="34" charset="0"/>
              </a:rPr>
              <a:t>אילוצים אתיים / בטיחותיים: לכידת נתונים של ילדים המקיימים אינטראקציה עם חפצים מסוכנים באמת (למשל, גלולות חשופות, סוללות ליתיום, חומרי ניקוי) היא בעייתית מבחינה אתית, נדירה ואפשרות שאינה קיימת במערכי נתונים ציבוריים.</a:t>
            </a:r>
            <a:endParaRPr lang="en-US" sz="4800" dirty="0">
              <a:latin typeface="Abel" panose="0200050603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br>
              <a:rPr lang="en-US" sz="4800" dirty="0">
                <a:latin typeface="Abel" panose="02000506030000020004" pitchFamily="2" charset="0"/>
                <a:cs typeface="Arial" panose="020B0604020202020204" pitchFamily="34" charset="0"/>
              </a:rPr>
            </a:br>
            <a:endParaRPr lang="en-US" sz="4800" dirty="0">
              <a:latin typeface="Abel" panose="02000506030000020004" pitchFamily="2" charset="0"/>
              <a:cs typeface="Arial" panose="020B0604020202020204" pitchFamily="34" charset="0"/>
            </a:endParaRPr>
          </a:p>
          <a:p>
            <a:pPr marL="0" indent="0" rtl="1">
              <a:buNone/>
            </a:pPr>
            <a:r>
              <a:rPr lang="he-IL" sz="4800" b="1" dirty="0">
                <a:latin typeface="Arial" panose="020B0604020202020204" pitchFamily="34" charset="0"/>
                <a:cs typeface="Arial" panose="020B0604020202020204" pitchFamily="34" charset="0"/>
              </a:rPr>
              <a:t>מה נייצר באופן סינתטי</a:t>
            </a:r>
          </a:p>
          <a:p>
            <a:pPr marL="0" indent="0" rtl="1">
              <a:buNone/>
            </a:pPr>
            <a:r>
              <a:rPr lang="he-IL" sz="4800" dirty="0">
                <a:latin typeface="Arial" panose="020B0604020202020204" pitchFamily="34" charset="0"/>
                <a:cs typeface="Arial" panose="020B0604020202020204" pitchFamily="34" charset="0"/>
              </a:rPr>
              <a:t>סוגי סצנות: חדרי ילדים, חדרי עבודה, מטבחים וכו’</a:t>
            </a:r>
          </a:p>
          <a:p>
            <a:pPr marL="0" indent="0" rtl="1">
              <a:buNone/>
            </a:pPr>
            <a:r>
              <a:rPr lang="he-IL" sz="4800" dirty="0">
                <a:latin typeface="Arial" panose="020B0604020202020204" pitchFamily="34" charset="0"/>
                <a:cs typeface="Arial" panose="020B0604020202020204" pitchFamily="34" charset="0"/>
              </a:rPr>
              <a:t>סוגי אובייקטים: חפצים מסוכנים לילדים (סכינים, סוללות, צעצועים קטנים וכו’)</a:t>
            </a:r>
          </a:p>
          <a:p>
            <a:pPr marL="0" indent="0" rtl="1">
              <a:buNone/>
            </a:pPr>
            <a:r>
              <a:rPr lang="he-IL" sz="4800" dirty="0">
                <a:latin typeface="Arial" panose="020B0604020202020204" pitchFamily="34" charset="0"/>
                <a:cs typeface="Arial" panose="020B0604020202020204" pitchFamily="34" charset="0"/>
              </a:rPr>
              <a:t>תוויות שמגיעות “בחינם” מהתהליך (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bounding boxes, masks, class labels)</a:t>
            </a:r>
          </a:p>
          <a:p>
            <a:pPr marL="0" indent="0">
              <a:buNone/>
            </a:pPr>
            <a:b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rtl="1">
              <a:buNone/>
            </a:pPr>
            <a:r>
              <a:rPr lang="he-IL" sz="4800" b="1" dirty="0">
                <a:latin typeface="Arial" panose="020B0604020202020204" pitchFamily="34" charset="0"/>
                <a:cs typeface="Arial" panose="020B0604020202020204" pitchFamily="34" charset="0"/>
              </a:rPr>
              <a:t>כלי </a:t>
            </a:r>
            <a:r>
              <a:rPr lang="en-US" sz="4800" b="1" dirty="0" err="1">
                <a:latin typeface="Arial" panose="020B0604020202020204" pitchFamily="34" charset="0"/>
                <a:cs typeface="Arial" panose="020B0604020202020204" pitchFamily="34" charset="0"/>
              </a:rPr>
              <a:t>GenAI</a:t>
            </a:r>
            <a:r>
              <a:rPr lang="en-US" sz="4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e-IL" sz="4800" b="1" dirty="0">
                <a:latin typeface="Arial" panose="020B0604020202020204" pitchFamily="34" charset="0"/>
                <a:cs typeface="Arial" panose="020B0604020202020204" pitchFamily="34" charset="0"/>
              </a:rPr>
              <a:t>שמתכננים להשתמש בהם</a:t>
            </a:r>
          </a:p>
          <a:p>
            <a:pPr marL="0" indent="0">
              <a:buNone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Stable Diffusion / SDXL</a:t>
            </a:r>
          </a:p>
          <a:p>
            <a:pPr marL="0" indent="0">
              <a:buNone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ControlNet (</a:t>
            </a:r>
            <a:r>
              <a:rPr lang="he-IL" sz="4800" dirty="0">
                <a:latin typeface="Arial" panose="020B0604020202020204" pitchFamily="34" charset="0"/>
                <a:cs typeface="Arial" panose="020B0604020202020204" pitchFamily="34" charset="0"/>
              </a:rPr>
              <a:t>לדוגמה, 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depth/pose guidance)</a:t>
            </a:r>
          </a:p>
          <a:p>
            <a:pPr marL="0" indent="0">
              <a:buNone/>
            </a:pP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Inpainting</a:t>
            </a: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4800" dirty="0" err="1">
                <a:latin typeface="Arial" panose="020B0604020202020204" pitchFamily="34" charset="0"/>
                <a:cs typeface="Arial" panose="020B0604020202020204" pitchFamily="34" charset="0"/>
              </a:rPr>
              <a:t>Outpainting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GroundingDINO + SAM </a:t>
            </a:r>
            <a:r>
              <a:rPr lang="he-IL" sz="4800" dirty="0">
                <a:latin typeface="Arial" panose="020B0604020202020204" pitchFamily="34" charset="0"/>
                <a:cs typeface="Arial" panose="020B0604020202020204" pitchFamily="34" charset="0"/>
              </a:rPr>
              <a:t>להפקת אנוטציות אוטומטיות</a:t>
            </a:r>
          </a:p>
          <a:p>
            <a:pPr rtl="1"/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102C6-56C3-065D-6B5E-F570110B7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321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8E30C-ADAB-7443-9DFD-A4E7141FF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Planned Experiments &amp; Next Steps</a:t>
            </a:r>
            <a:br>
              <a:rPr lang="en-US" b="1" dirty="0"/>
            </a:b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CFD71-6C8D-55DC-ADFD-7C4B86ED64E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55094" y="1828800"/>
            <a:ext cx="7150608" cy="3356576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800" b="1" dirty="0"/>
              <a:t>Models we might try:</a:t>
            </a:r>
          </a:p>
          <a:p>
            <a:pPr marL="0" indent="0">
              <a:buNone/>
            </a:pPr>
            <a:r>
              <a:rPr lang="en-US" sz="4800" dirty="0"/>
              <a:t>ResNet or EfficientNet for classification</a:t>
            </a:r>
          </a:p>
          <a:p>
            <a:pPr marL="0" indent="0">
              <a:buNone/>
            </a:pPr>
            <a:r>
              <a:rPr lang="en-US" sz="4800" dirty="0"/>
              <a:t>YOLOv8 / Faster R-CNN for object detection</a:t>
            </a:r>
          </a:p>
          <a:p>
            <a:pPr marL="0" indent="0">
              <a:buNone/>
            </a:pPr>
            <a:br>
              <a:rPr lang="en-US" sz="4800" dirty="0"/>
            </a:br>
            <a:endParaRPr lang="en-US" sz="4800" dirty="0"/>
          </a:p>
          <a:p>
            <a:pPr marL="0" indent="0">
              <a:buNone/>
            </a:pPr>
            <a:r>
              <a:rPr lang="en-US" sz="4800" b="1" dirty="0"/>
              <a:t>Evaluation metrics</a:t>
            </a:r>
            <a:r>
              <a:rPr lang="en-US" sz="4800" dirty="0"/>
              <a:t>:</a:t>
            </a:r>
          </a:p>
          <a:p>
            <a:pPr marL="0" indent="0">
              <a:buNone/>
            </a:pPr>
            <a:r>
              <a:rPr lang="en-US" sz="4800" dirty="0"/>
              <a:t>Accuracy, F1-score</a:t>
            </a:r>
          </a:p>
          <a:p>
            <a:pPr marL="0" indent="0">
              <a:buNone/>
            </a:pPr>
            <a:r>
              <a:rPr lang="en-US" sz="4800" dirty="0"/>
              <a:t>Intersection over Union (IoU)</a:t>
            </a:r>
          </a:p>
          <a:p>
            <a:pPr marL="0" indent="0">
              <a:buNone/>
            </a:pPr>
            <a:r>
              <a:rPr lang="en-US" sz="4800" dirty="0"/>
              <a:t>Mean Average Precision (mAP)</a:t>
            </a:r>
          </a:p>
          <a:p>
            <a:pPr marL="0" indent="0">
              <a:buNone/>
            </a:pPr>
            <a:br>
              <a:rPr lang="en-US" sz="4800" dirty="0"/>
            </a:br>
            <a:endParaRPr lang="en-US" sz="4800" dirty="0"/>
          </a:p>
          <a:p>
            <a:pPr marL="0" indent="0">
              <a:buNone/>
            </a:pPr>
            <a:r>
              <a:rPr lang="en-US" sz="4800" b="1" dirty="0"/>
              <a:t>Next steps before the final project:</a:t>
            </a:r>
          </a:p>
          <a:p>
            <a:pPr marL="0" indent="0">
              <a:buNone/>
            </a:pPr>
            <a:r>
              <a:rPr lang="en-US" sz="4800" dirty="0"/>
              <a:t>Finalize the use case</a:t>
            </a:r>
          </a:p>
          <a:p>
            <a:pPr marL="0" indent="0">
              <a:buNone/>
            </a:pPr>
            <a:r>
              <a:rPr lang="en-US" sz="4800" dirty="0"/>
              <a:t>Design the synthetic data generation recipe</a:t>
            </a:r>
          </a:p>
          <a:p>
            <a:pPr marL="0" indent="0">
              <a:buNone/>
            </a:pPr>
            <a:r>
              <a:rPr lang="en-US" sz="4800" dirty="0"/>
              <a:t>Collect / generate the first sample images</a:t>
            </a:r>
            <a:endParaRPr lang="he-IL" sz="4800" dirty="0"/>
          </a:p>
          <a:p>
            <a:pPr marL="0" indent="0">
              <a:buNone/>
            </a:pPr>
            <a:r>
              <a:rPr lang="en-US" sz="4800" dirty="0"/>
              <a:t>Train the model based on the received synthetic data</a:t>
            </a:r>
          </a:p>
          <a:p>
            <a:pPr marL="0" indent="0">
              <a:buNone/>
            </a:pPr>
            <a:endParaRPr lang="he-IL" dirty="0">
              <a:effectLst/>
              <a:latin typeface=".AppleSystemUIFon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9DDE0-C5C3-4A4B-FFE7-369E9AABED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968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9152" y="914400"/>
            <a:ext cx="5641848" cy="50292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433</Words>
  <Application>Microsoft Office PowerPoint</Application>
  <PresentationFormat>Widescreen</PresentationFormat>
  <Paragraphs>133</Paragraphs>
  <Slides>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Custom</vt:lpstr>
      <vt:lpstr>Detection of Potentially Dangerous Objects for a Child in a Room </vt:lpstr>
      <vt:lpstr>Motivation &amp; use case </vt:lpstr>
      <vt:lpstr>ML task</vt:lpstr>
      <vt:lpstr>Synthetic Data Plan </vt:lpstr>
      <vt:lpstr>Planned Experiments &amp; Next Steps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Detection of Potentially Dangerous Objects for a Child in a Room </dc:title>
  <dc:creator>Svetlana Gavris</dc:creator>
  <cp:lastModifiedBy>Svetlana Gavris</cp:lastModifiedBy>
  <cp:revision>1</cp:revision>
  <dcterms:created xsi:type="dcterms:W3CDTF">2025-11-30T19:25:27Z</dcterms:created>
  <dcterms:modified xsi:type="dcterms:W3CDTF">2025-11-30T20:58:20Z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